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6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Manual (minutes)</c:v>
                </c:pt>
              </c:strCache>
            </c:strRef>
          </c:tx>
          <c:spPr>
            <a:solidFill>
              <a:srgbClr val="3A3F4B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Triage an alert</c:v>
                </c:pt>
                <c:pt idx="1">
                  <c:v>Summarize an incident</c:v>
                </c:pt>
                <c:pt idx="2">
                  <c:v>Draft a report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25</c:v>
                </c:pt>
                <c:pt idx="2">
                  <c:v>45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E38-194C-BC70-A06BC836888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AI-assisted (minutes)</c:v>
                </c:pt>
              </c:strCache>
            </c:strRef>
          </c:tx>
          <c:spPr>
            <a:solidFill>
              <a:srgbClr val="2563EB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Triage an alert</c:v>
                </c:pt>
                <c:pt idx="1">
                  <c:v>Summarize an incident</c:v>
                </c:pt>
                <c:pt idx="2">
                  <c:v>Draft a report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</c:v>
                </c:pt>
                <c:pt idx="1">
                  <c:v>4</c:v>
                </c:pt>
                <c:pt idx="2">
                  <c:v>10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FE38-194C-BC70-A06BC83688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F396C0-31B0-7D4A-83FC-1B52371BA669}" type="datetimeFigureOut">
              <a:rPr lang="en-US" smtClean="0"/>
              <a:t>8/20/26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6BF523-C9BF-2C4C-AAD7-84C3E9F016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926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6BF523-C9BF-2C4C-AAD7-84C3E9F016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692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869680" y="0"/>
            <a:ext cx="3322015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796528" y="0"/>
            <a:ext cx="73152" cy="6858000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0" y="2286000"/>
            <a:ext cx="3322015" cy="182880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MODULE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51560"/>
            <a:ext cx="7680960" cy="45720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2C01E"/>
                </a:solidFill>
                <a:latin typeface="Calibri"/>
              </a:rPr>
              <a:t>AI BLUE TEAM AND INTRO TO AI RED TEAMING BOOTCAMP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7863840" cy="155448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600" b="1" dirty="0">
                <a:solidFill>
                  <a:srgbClr val="FFFFFF"/>
                </a:solidFill>
                <a:latin typeface="Calibri"/>
              </a:rPr>
              <a:t>Foundations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66160"/>
            <a:ext cx="7680960" cy="82296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D7DAE2"/>
                </a:solidFill>
                <a:latin typeface="Calibri"/>
              </a:rPr>
              <a:t>AI for Blue Team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7680960" cy="64008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dirty="0">
                <a:solidFill>
                  <a:srgbClr val="6B7280"/>
                </a:solidFill>
                <a:latin typeface="Calibri"/>
              </a:rPr>
              <a:t>How AI is changing defensive security 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21208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Day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521208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3A3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2 hours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5212080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3A3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Hands-on labs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989320"/>
            <a:ext cx="7315200" cy="295466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dirty="0">
                <a:solidFill>
                  <a:srgbClr val="6B7280"/>
                </a:solidFill>
                <a:latin typeface="Calibri"/>
              </a:rPr>
              <a:t>Presenter: Dr. Gaspard Baye, Valix AI</a:t>
            </a:r>
            <a:r>
              <a:rPr lang="en-US" sz="1200" b="0" dirty="0">
                <a:solidFill>
                  <a:srgbClr val="6B7280"/>
                </a:solidFill>
                <a:latin typeface="Calibri"/>
              </a:rPr>
              <a:t> + Evolve Academy</a:t>
            </a:r>
            <a:endParaRPr sz="1200" b="0" dirty="0">
              <a:solidFill>
                <a:srgbClr val="6B7280"/>
              </a:solidFill>
              <a:latin typeface="Calibri"/>
            </a:endParaRPr>
          </a:p>
        </p:txBody>
      </p:sp>
      <p:pic>
        <p:nvPicPr>
          <p:cNvPr id="19" name="Picture 18" descr="Evolve Security 2026 Company Profile: Valuation, Funding &amp; Investors |  PitchBook">
            <a:extLst>
              <a:ext uri="{FF2B5EF4-FFF2-40B4-BE49-F238E27FC236}">
                <a16:creationId xmlns:a16="http://schemas.microsoft.com/office/drawing/2014/main" id="{66FFCF6F-2EC6-DEC2-7909-77DA1B9A36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7856" y="-320358"/>
            <a:ext cx="1787144" cy="17871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C4C323-799A-663C-A521-5CF9CBE40C1A}"/>
              </a:ext>
            </a:extLst>
          </p:cNvPr>
          <p:cNvSpPr txBox="1"/>
          <p:nvPr/>
        </p:nvSpPr>
        <p:spPr>
          <a:xfrm>
            <a:off x="9267909" y="2023110"/>
            <a:ext cx="2469624" cy="28460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Whoami?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E5E148-81C8-0BC4-4E74-7AF6BC5A8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38" y="1781141"/>
            <a:ext cx="7608304" cy="336667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389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2-HOUR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How today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1  |  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3588410" cy="1143000"/>
          </a:xfrm>
          <a:prstGeom prst="roundRect">
            <a:avLst>
              <a:gd name="adj" fmla="val 9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664208"/>
            <a:ext cx="3588410" cy="36576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C01E"/>
                </a:solidFill>
                <a:latin typeface="Calibri"/>
              </a:rPr>
              <a:t>0:00 - 0:20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11680"/>
            <a:ext cx="3405530" cy="64008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Concept and demo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1642" y="1554480"/>
            <a:ext cx="3588410" cy="1143000"/>
          </a:xfrm>
          <a:prstGeom prst="roundRect">
            <a:avLst>
              <a:gd name="adj" fmla="val 9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01642" y="1664208"/>
            <a:ext cx="3588410" cy="36576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C01E"/>
                </a:solidFill>
                <a:latin typeface="Calibri"/>
              </a:rPr>
              <a:t>0:20 - 1:40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3082" y="2011680"/>
            <a:ext cx="3405530" cy="64008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Guided hands-on labs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4644" y="1554480"/>
            <a:ext cx="3588410" cy="1143000"/>
          </a:xfrm>
          <a:prstGeom prst="roundRect">
            <a:avLst>
              <a:gd name="adj" fmla="val 9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54644" y="1664208"/>
            <a:ext cx="3588410" cy="36576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2C01E"/>
                </a:solidFill>
                <a:latin typeface="Calibri"/>
              </a:rPr>
              <a:t>1:40 - 2:00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6084" y="2011680"/>
            <a:ext cx="3405530" cy="64008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Debrief and Q and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63240"/>
            <a:ext cx="10972800" cy="36576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563EB"/>
                </a:solidFill>
                <a:latin typeface="Calibri"/>
              </a:rPr>
              <a:t>LABS IN THIS SESSION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474720"/>
            <a:ext cx="11064240" cy="566928"/>
          </a:xfrm>
          <a:prstGeom prst="roundRect">
            <a:avLst>
              <a:gd name="adj" fmla="val 14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575303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Lab 1.1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3493008"/>
            <a:ext cx="9235440" cy="530352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51622"/>
                </a:solidFill>
                <a:latin typeface="Calibri"/>
              </a:rPr>
              <a:t>Connect to Ollama and Wazuh, and check the GPU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133087"/>
            <a:ext cx="11064240" cy="566928"/>
          </a:xfrm>
          <a:prstGeom prst="roundRect">
            <a:avLst>
              <a:gd name="adj" fmla="val 14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85800" y="4233672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Lab 1.2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4151375"/>
            <a:ext cx="9235440" cy="530352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51622"/>
                </a:solidFill>
                <a:latin typeface="Calibri"/>
              </a:rPr>
              <a:t>Your first AI conversation for security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791455"/>
            <a:ext cx="11064240" cy="566928"/>
          </a:xfrm>
          <a:prstGeom prst="roundRect">
            <a:avLst>
              <a:gd name="adj" fmla="val 14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85800" y="4892040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Lab 1.3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4809743"/>
            <a:ext cx="9235440" cy="530352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51622"/>
                </a:solidFill>
                <a:latin typeface="Calibri"/>
              </a:rPr>
              <a:t>AI-assisted log triage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449823"/>
            <a:ext cx="11064240" cy="566928"/>
          </a:xfrm>
          <a:prstGeom prst="roundRect">
            <a:avLst>
              <a:gd name="adj" fmla="val 14000"/>
            </a:avLst>
          </a:prstGeom>
          <a:solidFill>
            <a:srgbClr val="F4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85800" y="5550407"/>
            <a:ext cx="1371600" cy="36576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Lab 1.4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5468111"/>
            <a:ext cx="9235440" cy="530352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51622"/>
                </a:solidFill>
                <a:latin typeface="Calibri"/>
              </a:rPr>
              <a:t>Tour the Wazuh SIEM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THE ROAD 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Where this fits in the week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1  |  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60320"/>
            <a:ext cx="2036003" cy="173736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2036003" cy="45720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2C01E"/>
                </a:solidFill>
                <a:latin typeface="Calibri"/>
              </a:rPr>
              <a:t>Day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200400"/>
            <a:ext cx="1816547" cy="1005839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Foundations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3243" y="2743200"/>
            <a:ext cx="2036003" cy="1371600"/>
          </a:xfrm>
          <a:prstGeom prst="roundRect">
            <a:avLst>
              <a:gd name="adj" fmla="val 8000"/>
            </a:avLst>
          </a:prstGeom>
          <a:solidFill>
            <a:srgbClr val="ECEFF5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13243" y="2926080"/>
            <a:ext cx="2036003" cy="45720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Calibri"/>
              </a:rPr>
              <a:t>Day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2971" y="3383280"/>
            <a:ext cx="1816547" cy="64008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Detection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7846" y="2743200"/>
            <a:ext cx="2036003" cy="1371600"/>
          </a:xfrm>
          <a:prstGeom prst="roundRect">
            <a:avLst>
              <a:gd name="adj" fmla="val 8000"/>
            </a:avLst>
          </a:prstGeom>
          <a:solidFill>
            <a:srgbClr val="ECEFF5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77846" y="2926080"/>
            <a:ext cx="2036003" cy="45720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Calibri"/>
              </a:rPr>
              <a:t>Day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7574" y="3383280"/>
            <a:ext cx="1816547" cy="64008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Prompt engineering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42449" y="2743200"/>
            <a:ext cx="2036003" cy="1371600"/>
          </a:xfrm>
          <a:prstGeom prst="roundRect">
            <a:avLst>
              <a:gd name="adj" fmla="val 8000"/>
            </a:avLst>
          </a:prstGeom>
          <a:solidFill>
            <a:srgbClr val="ECEFF5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42449" y="2926080"/>
            <a:ext cx="2036003" cy="45720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Calibri"/>
              </a:rPr>
              <a:t>Day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177" y="3383280"/>
            <a:ext cx="1816547" cy="64008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AI red teaming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7052" y="2743200"/>
            <a:ext cx="2036003" cy="1371600"/>
          </a:xfrm>
          <a:prstGeom prst="roundRect">
            <a:avLst>
              <a:gd name="adj" fmla="val 8000"/>
            </a:avLst>
          </a:prstGeom>
          <a:solidFill>
            <a:srgbClr val="ECEFF5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7052" y="2926080"/>
            <a:ext cx="2036003" cy="45720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Calibri"/>
              </a:rPr>
              <a:t>Day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6780" y="3383280"/>
            <a:ext cx="1816547" cy="64008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Capstone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937760"/>
            <a:ext cx="11064240" cy="73152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You are here: Day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WHY AI,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The problem: analysts are drowning in alerts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1  |  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348477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3484778" cy="109728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2563EB"/>
                </a:solidFill>
                <a:latin typeface="Calibri"/>
              </a:rPr>
              <a:t>11k+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66160"/>
            <a:ext cx="3210458" cy="82296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3A3F4B"/>
                </a:solidFill>
                <a:latin typeface="Calibri"/>
              </a:rPr>
              <a:t>alerts per day in a busy SOC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3458" y="2103120"/>
            <a:ext cx="348477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53458" y="2423160"/>
            <a:ext cx="3484778" cy="109728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2563EB"/>
                </a:solidFill>
                <a:latin typeface="Calibri"/>
              </a:rPr>
              <a:t>60%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3566160"/>
            <a:ext cx="3210458" cy="82296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3A3F4B"/>
                </a:solidFill>
                <a:latin typeface="Calibri"/>
              </a:rPr>
              <a:t>of alerts never get fully investigated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2103120"/>
            <a:ext cx="348477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58276" y="2423160"/>
            <a:ext cx="3484778" cy="109728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2563EB"/>
                </a:solidFill>
                <a:latin typeface="Calibri"/>
              </a:rPr>
              <a:t>30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5436" y="3566160"/>
            <a:ext cx="3210458" cy="82296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3A3F4B"/>
                </a:solidFill>
                <a:latin typeface="Calibri"/>
              </a:rPr>
              <a:t>to triage a single alert by hand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46320"/>
            <a:ext cx="11064240" cy="91440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Numbers are illustrative. AI does not replace the analyst; it removes the slow first pass so people focus on judgment.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MINUTES PER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Where AI saves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1  |  05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1097280" y="1554480"/>
          <a:ext cx="100584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Illustrative. AI-assisted work still ends with a human check.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THREE EVERYDAY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Where AI helps across the SOC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1  |  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 Same Side Corner Rectangle 9"/>
          <p:cNvSpPr/>
          <p:nvPr/>
        </p:nvSpPr>
        <p:spPr>
          <a:xfrm>
            <a:off x="548640" y="1417320"/>
            <a:ext cx="3515258" cy="128016"/>
          </a:xfrm>
          <a:prstGeom prst="round2Same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673352"/>
            <a:ext cx="3149498" cy="1810512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Log analysis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Turn thousands of raw lines into a plain-language summary and a verdict.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14173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338218" y="1417320"/>
            <a:ext cx="3515258" cy="128016"/>
          </a:xfrm>
          <a:prstGeom prst="round2Same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1098" y="1673352"/>
            <a:ext cx="3149498" cy="1810512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Alert triage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Rank what matters first and explain why, with the evidence cited.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14173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 Same Side Corner Rectangle 15"/>
          <p:cNvSpPr/>
          <p:nvPr/>
        </p:nvSpPr>
        <p:spPr>
          <a:xfrm>
            <a:off x="8127796" y="1417320"/>
            <a:ext cx="3515258" cy="128016"/>
          </a:xfrm>
          <a:prstGeom prst="round2Same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10676" y="1673352"/>
            <a:ext cx="3149498" cy="1810512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Incident response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Draft timelines, summaries, and reports so responders move faster.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YOUR TOOLKIT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The tools you will 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1  |  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 Same Side Corner Rectangle 9"/>
          <p:cNvSpPr/>
          <p:nvPr/>
        </p:nvSpPr>
        <p:spPr>
          <a:xfrm>
            <a:off x="548640" y="1417320"/>
            <a:ext cx="3515258" cy="128016"/>
          </a:xfrm>
          <a:prstGeom prst="round2Same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673352"/>
            <a:ext cx="3149498" cy="1810512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Ollama and llama3.1 8b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A large language model running on the lab GPU. Private, and no data leaves the lab.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14173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338218" y="1417320"/>
            <a:ext cx="3515258" cy="128016"/>
          </a:xfrm>
          <a:prstGeom prst="round2Same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1098" y="1673352"/>
            <a:ext cx="3149498" cy="1810512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Wazuh 4.14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The SIEM. It collects logs, applies rules, and raises alerts.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14173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 Same Side Corner Rectangle 15"/>
          <p:cNvSpPr/>
          <p:nvPr/>
        </p:nvSpPr>
        <p:spPr>
          <a:xfrm>
            <a:off x="8127796" y="1417320"/>
            <a:ext cx="3515258" cy="128016"/>
          </a:xfrm>
          <a:prstGeom prst="round2Same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10676" y="1673352"/>
            <a:ext cx="3149498" cy="1810512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Shared Python clients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ollama_client and wazuh_client connect the two in a few lines of code.</a:t>
            </a:r>
          </a:p>
        </p:txBody>
      </p:sp>
      <p:pic>
        <p:nvPicPr>
          <p:cNvPr id="19" name="Picture 18" descr="Ollama Icon &amp; Logo | Dashboard Icons &amp; Logos">
            <a:extLst>
              <a:ext uri="{FF2B5EF4-FFF2-40B4-BE49-F238E27FC236}">
                <a16:creationId xmlns:a16="http://schemas.microsoft.com/office/drawing/2014/main" id="{63080F2E-211F-559E-A758-3D2D8A10A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292" y="3777591"/>
            <a:ext cx="1102250" cy="1454421"/>
          </a:xfrm>
          <a:prstGeom prst="rect">
            <a:avLst/>
          </a:prstGeom>
        </p:spPr>
      </p:pic>
      <p:pic>
        <p:nvPicPr>
          <p:cNvPr id="20" name="Picture 19" descr="Adventures with Wazuh. With the goal of getting into Security… | by  Oluwatosin Ogunjimi | Medium">
            <a:extLst>
              <a:ext uri="{FF2B5EF4-FFF2-40B4-BE49-F238E27FC236}">
                <a16:creationId xmlns:a16="http://schemas.microsoft.com/office/drawing/2014/main" id="{1CF173AF-BB53-2969-7371-5D376CBFA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322" y="3957970"/>
            <a:ext cx="2922875" cy="1530450"/>
          </a:xfrm>
          <a:prstGeom prst="rect">
            <a:avLst/>
          </a:prstGeom>
        </p:spPr>
      </p:pic>
      <p:pic>
        <p:nvPicPr>
          <p:cNvPr id="21" name="Picture 20" descr="Python Logo PNG Vector (SVG) Free Download">
            <a:extLst>
              <a:ext uri="{FF2B5EF4-FFF2-40B4-BE49-F238E27FC236}">
                <a16:creationId xmlns:a16="http://schemas.microsoft.com/office/drawing/2014/main" id="{5277C586-EFF2-FA7A-CB54-42236DEC94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0662" y="3805071"/>
            <a:ext cx="1504046" cy="15040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THE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How the lab connects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1  | 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514600"/>
            <a:ext cx="3423818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 Same Side Corner Rectangle 9"/>
          <p:cNvSpPr/>
          <p:nvPr/>
        </p:nvSpPr>
        <p:spPr>
          <a:xfrm>
            <a:off x="502920" y="2514600"/>
            <a:ext cx="3423818" cy="457200"/>
          </a:xfrm>
          <a:prstGeom prst="round2Same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551176"/>
            <a:ext cx="3423818" cy="38404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Student VM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81528"/>
            <a:ext cx="3240938" cy="91440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3F4B"/>
                </a:solidFill>
                <a:latin typeface="Calibri"/>
              </a:rPr>
              <a:t>You run scripts and prompts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926738" y="3063240"/>
            <a:ext cx="457200" cy="45720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83938" y="2514600"/>
            <a:ext cx="3423818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 Same Side Corner Rectangle 14"/>
          <p:cNvSpPr/>
          <p:nvPr/>
        </p:nvSpPr>
        <p:spPr>
          <a:xfrm>
            <a:off x="4383938" y="2514600"/>
            <a:ext cx="3423818" cy="457200"/>
          </a:xfrm>
          <a:prstGeom prst="round2Same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83938" y="2551176"/>
            <a:ext cx="3423818" cy="38404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Ollama GPU VM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5378" y="3081528"/>
            <a:ext cx="3240938" cy="91440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3A3F4B"/>
                </a:solidFill>
                <a:latin typeface="Calibri"/>
              </a:rPr>
              <a:t>llama3.1 8b analyzes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807756" y="3063240"/>
            <a:ext cx="457200" cy="45720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264956" y="2514600"/>
            <a:ext cx="3423818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E9F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 Same Side Corner Rectangle 19"/>
          <p:cNvSpPr/>
          <p:nvPr/>
        </p:nvSpPr>
        <p:spPr>
          <a:xfrm>
            <a:off x="8264956" y="2514600"/>
            <a:ext cx="3423818" cy="457200"/>
          </a:xfrm>
          <a:prstGeom prst="round2SameRect">
            <a:avLst/>
          </a:prstGeom>
          <a:solidFill>
            <a:srgbClr val="0E9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64956" y="2587773"/>
            <a:ext cx="3423818" cy="310854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dirty="0" err="1">
                <a:solidFill>
                  <a:srgbClr val="FFFFFF"/>
                </a:solidFill>
                <a:latin typeface="Calibri"/>
              </a:rPr>
              <a:t>Wazuh</a:t>
            </a:r>
            <a:r>
              <a:rPr sz="1300" b="1" dirty="0">
                <a:solidFill>
                  <a:srgbClr val="FFFFFF"/>
                </a:solidFill>
                <a:latin typeface="Calibri"/>
              </a:rPr>
              <a:t> SIEM</a:t>
            </a:r>
            <a:r>
              <a:rPr lang="en-US" sz="1300" b="1" dirty="0">
                <a:solidFill>
                  <a:srgbClr val="FFFFFF"/>
                </a:solidFill>
                <a:latin typeface="Calibri"/>
              </a:rPr>
              <a:t>/ Custom dashboard</a:t>
            </a:r>
            <a:endParaRPr sz="13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56396" y="3081528"/>
            <a:ext cx="3240938" cy="914400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 dirty="0">
                <a:solidFill>
                  <a:srgbClr val="3A3F4B"/>
                </a:solidFill>
                <a:latin typeface="Calibri"/>
              </a:rPr>
              <a:t>Alerts and log 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480560"/>
            <a:ext cx="11064240" cy="64008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3A3F4B"/>
                </a:solidFill>
                <a:latin typeface="Calibri"/>
              </a:rPr>
              <a:t>One .env file points every script at the real lab or a local offline copy.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PROMPT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Anatomy of a good AI request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1  | 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3A3F4B"/>
                </a:solidFill>
                <a:latin typeface="Calibri"/>
              </a:rPr>
              <a:t>Every prompt in this course follows the same simple shape.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874519"/>
            <a:ext cx="5410047" cy="21259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 Same Side Corner Rectangle 10"/>
          <p:cNvSpPr/>
          <p:nvPr/>
        </p:nvSpPr>
        <p:spPr>
          <a:xfrm>
            <a:off x="548640" y="1874519"/>
            <a:ext cx="5410047" cy="128016"/>
          </a:xfrm>
          <a:prstGeom prst="round2Same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130551"/>
            <a:ext cx="5044287" cy="1741932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Role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Set who the model is: a SOC analyst assistant.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874519"/>
            <a:ext cx="5410047" cy="21259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 Same Side Corner Rectangle 13"/>
          <p:cNvSpPr/>
          <p:nvPr/>
        </p:nvSpPr>
        <p:spPr>
          <a:xfrm>
            <a:off x="6233007" y="1874519"/>
            <a:ext cx="5410047" cy="128016"/>
          </a:xfrm>
          <a:prstGeom prst="round2Same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5887" y="2130551"/>
            <a:ext cx="5044287" cy="1741932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Task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Say what to do: summarize this log and give a verdict.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74820"/>
            <a:ext cx="5410047" cy="21259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 Same Side Corner Rectangle 16"/>
          <p:cNvSpPr/>
          <p:nvPr/>
        </p:nvSpPr>
        <p:spPr>
          <a:xfrm>
            <a:off x="548640" y="4274820"/>
            <a:ext cx="5410047" cy="128016"/>
          </a:xfrm>
          <a:prstGeom prst="round2Same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530852"/>
            <a:ext cx="5044287" cy="1741932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Data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The log itself, kept separate from the instructions.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274820"/>
            <a:ext cx="5410047" cy="21259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 Same Side Corner Rectangle 19"/>
          <p:cNvSpPr/>
          <p:nvPr/>
        </p:nvSpPr>
        <p:spPr>
          <a:xfrm>
            <a:off x="6233007" y="4274820"/>
            <a:ext cx="5410047" cy="128016"/>
          </a:xfrm>
          <a:prstGeom prst="round2Same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15887" y="4530852"/>
            <a:ext cx="5044287" cy="1741932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Constraints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A fixed output shape so results stay consistent.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THE MINDSET THAT KEEPS YOU SAFE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Human in the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1  | 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 Same Side Corner Rectangle 9"/>
          <p:cNvSpPr/>
          <p:nvPr/>
        </p:nvSpPr>
        <p:spPr>
          <a:xfrm>
            <a:off x="548640" y="1417320"/>
            <a:ext cx="3515258" cy="128016"/>
          </a:xfrm>
          <a:prstGeom prst="round2Same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673352"/>
            <a:ext cx="3149498" cy="1810512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AI is a co-pilot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It proposes. It does not decide.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14173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 Same Side Corner Rectangle 12"/>
          <p:cNvSpPr/>
          <p:nvPr/>
        </p:nvSpPr>
        <p:spPr>
          <a:xfrm>
            <a:off x="4338218" y="1417320"/>
            <a:ext cx="3515258" cy="128016"/>
          </a:xfrm>
          <a:prstGeom prst="round2Same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1098" y="1673352"/>
            <a:ext cx="3149498" cy="1810512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Always verify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Treat the output as a hypothesis backed by evidence.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14173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 Same Side Corner Rectangle 15"/>
          <p:cNvSpPr/>
          <p:nvPr/>
        </p:nvSpPr>
        <p:spPr>
          <a:xfrm>
            <a:off x="8127796" y="1417320"/>
            <a:ext cx="3515258" cy="128016"/>
          </a:xfrm>
          <a:prstGeom prst="round2Same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10676" y="1673352"/>
            <a:ext cx="3149498" cy="1810512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Never trust data as instructions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3A3F4B"/>
                </a:solidFill>
                <a:latin typeface="Calibri"/>
              </a:rPr>
              <a:t>A preview of Day 4: attackers hide commands in logs.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0058400" cy="27432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2C01E"/>
                </a:solidFill>
                <a:latin typeface="Calibri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11155680" cy="603504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E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28816"/>
            <a:ext cx="7315200" cy="2926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Valix AI  x  Evolve Academy   |   AI Blue Team Bootcamp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28816"/>
            <a:ext cx="1371600" cy="2926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280"/>
                </a:solidFill>
                <a:latin typeface="Calibri"/>
              </a:rPr>
              <a:t>Module 1  | 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10881360" cy="841248"/>
          </a:xfrm>
          <a:prstGeom prst="roundRect">
            <a:avLst>
              <a:gd name="adj" fmla="val 10000"/>
            </a:avLst>
          </a:prstGeom>
          <a:solidFill>
            <a:srgbClr val="F4F2FB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68680" y="1700784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600200"/>
            <a:ext cx="9692640" cy="7498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1622"/>
                </a:solidFill>
                <a:latin typeface="Calibri"/>
              </a:rPr>
              <a:t>AI is now part of the modern SOC for log analysis, triage, and response.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87168"/>
            <a:ext cx="10881360" cy="841248"/>
          </a:xfrm>
          <a:prstGeom prst="roundRect">
            <a:avLst>
              <a:gd name="adj" fmla="val 10000"/>
            </a:avLst>
          </a:prstGeom>
          <a:solidFill>
            <a:srgbClr val="F4F2FB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68680" y="2633472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532887"/>
            <a:ext cx="9692640" cy="7498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1622"/>
                </a:solidFill>
                <a:latin typeface="Calibri"/>
              </a:rPr>
              <a:t>A large language model turns raw logs into summaries and verdicts in seconds.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19856"/>
            <a:ext cx="10881360" cy="841248"/>
          </a:xfrm>
          <a:prstGeom prst="roundRect">
            <a:avLst>
              <a:gd name="adj" fmla="val 10000"/>
            </a:avLst>
          </a:prstGeom>
          <a:solidFill>
            <a:srgbClr val="F4F2FB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68680" y="356616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465575"/>
            <a:ext cx="9692640" cy="7498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1622"/>
                </a:solidFill>
                <a:latin typeface="Calibri"/>
              </a:rPr>
              <a:t>A good prompt has four parts: role, task, data, and constraints.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352544"/>
            <a:ext cx="10881360" cy="841248"/>
          </a:xfrm>
          <a:prstGeom prst="roundRect">
            <a:avLst>
              <a:gd name="adj" fmla="val 10000"/>
            </a:avLst>
          </a:prstGeom>
          <a:solidFill>
            <a:srgbClr val="F4F2FB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68680" y="4498848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398264"/>
            <a:ext cx="9692640" cy="7498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1622"/>
                </a:solidFill>
                <a:latin typeface="Calibri"/>
              </a:rPr>
              <a:t>The analyst stays in control and verifies every AI output.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285231"/>
            <a:ext cx="10881360" cy="841248"/>
          </a:xfrm>
          <a:prstGeom prst="roundRect">
            <a:avLst>
              <a:gd name="adj" fmla="val 10000"/>
            </a:avLst>
          </a:prstGeom>
          <a:solidFill>
            <a:srgbClr val="F4F2FB"/>
          </a:solidFill>
          <a:ln w="12700">
            <a:solidFill>
              <a:srgbClr val="D7DA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68680" y="5431536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330951"/>
            <a:ext cx="9692640" cy="749808"/>
          </a:xfrm>
          <a:prstGeom prst="rect">
            <a:avLst/>
          </a:prstGeom>
          <a:noFill/>
        </p:spPr>
        <p:txBody>
          <a:bodyPr wrap="square" lIns="109728" tIns="54864" rIns="109728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51622"/>
                </a:solidFill>
                <a:latin typeface="Calibri"/>
              </a:rPr>
              <a:t>Never let untrusted data act as instructions to the model.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F2C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10058400" cy="1097280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Foundations 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566160"/>
            <a:ext cx="9235440" cy="387798"/>
          </a:xfrm>
          <a:prstGeom prst="rect">
            <a:avLst/>
          </a:prstGeom>
          <a:noFill/>
        </p:spPr>
        <p:txBody>
          <a:bodyPr wrap="square" lIns="109728" tIns="54864" rIns="109728" bIns="54864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lang="en-US" sz="1800" b="0" dirty="0">
                <a:solidFill>
                  <a:srgbClr val="D7DAE2"/>
                </a:solidFill>
                <a:latin typeface="Calibri"/>
              </a:rPr>
              <a:t>Tomorrow,</a:t>
            </a:r>
            <a:r>
              <a:rPr sz="1800" b="0" dirty="0">
                <a:solidFill>
                  <a:srgbClr val="D7DAE2"/>
                </a:solidFill>
                <a:latin typeface="Calibri"/>
              </a:rPr>
              <a:t> you generate real attacks and catch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03904" y="4663440"/>
            <a:ext cx="4572000" cy="5486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Next: Day 2, Applied 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739</Words>
  <Application>Microsoft Macintosh PowerPoint</Application>
  <PresentationFormat>Widescreen</PresentationFormat>
  <Paragraphs>133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Gaspard Baye</cp:lastModifiedBy>
  <cp:revision>2</cp:revision>
  <dcterms:created xsi:type="dcterms:W3CDTF">2013-01-27T09:14:16Z</dcterms:created>
  <dcterms:modified xsi:type="dcterms:W3CDTF">2026-08-21T01:40:00Z</dcterms:modified>
  <cp:category/>
</cp:coreProperties>
</file>